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4"/>
    <p:restoredTop sz="94723"/>
  </p:normalViewPr>
  <p:slideViewPr>
    <p:cSldViewPr snapToGrid="0" snapToObjects="1">
      <p:cViewPr varScale="1">
        <p:scale>
          <a:sx n="115" d="100"/>
          <a:sy n="115" d="100"/>
        </p:scale>
        <p:origin x="1200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14730-0DD5-EB4A-B648-B0A8C9AD656D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15F89-79F7-374C-8D42-95E57E4D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15F89-79F7-374C-8D42-95E57E4D3F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83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15F89-79F7-374C-8D42-95E57E4D3F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28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UHNW PORTFOLIO TRANSITION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A84B"/>
                </a:solidFill>
                <a:latin typeface="Calibri"/>
              </a:rPr>
              <a:t>From Concentrated Risk to Institutional Diversification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834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A84B"/>
                </a:solidFill>
                <a:latin typeface="Calibri"/>
              </a:rPr>
              <a:t>CLIENT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2F2"/>
                </a:solidFill>
                <a:latin typeface="Calibri"/>
              </a:rPr>
              <a:t>Segment:   Ultra High Net Worth (UHNW)  |  $10M+ Investable Assets</a:t>
            </a:r>
          </a:p>
          <a:p>
            <a:pPr algn="l"/>
            <a:r>
              <a:rPr sz="1400" b="0">
                <a:solidFill>
                  <a:srgbClr val="F2F2F2"/>
                </a:solidFill>
                <a:latin typeface="Calibri"/>
              </a:rPr>
              <a:t>Profile:     Technology Founder  |  $25,000,000 Portfolio  |  90% Concentrated Equity</a:t>
            </a:r>
          </a:p>
          <a:p>
            <a:pPr algn="l"/>
            <a:r>
              <a:rPr sz="1400" b="0">
                <a:solidFill>
                  <a:srgbClr val="F2F2F2"/>
                </a:solidFill>
                <a:latin typeface="Calibri"/>
              </a:rPr>
              <a:t>Objective:  De-risk position, generate income, fund $10M Private 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80560"/>
            <a:ext cx="2560320" cy="896112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8A84B"/>
                </a:solidFill>
                <a:latin typeface="Calibri"/>
              </a:rPr>
              <a:t>$25M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017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A0"/>
                </a:solidFill>
                <a:latin typeface="Calibri"/>
              </a:rPr>
              <a:t>Portfolio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4480560"/>
            <a:ext cx="2560320" cy="896112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452628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8A84B"/>
                </a:solidFill>
                <a:latin typeface="Calibri"/>
              </a:rPr>
              <a:t>$18.5M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50017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A0"/>
                </a:solidFill>
                <a:latin typeface="Calibri"/>
              </a:rPr>
              <a:t>Unrealized Gains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599" y="4480560"/>
            <a:ext cx="2560320" cy="896112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39" y="452628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8A84B"/>
                </a:solidFill>
                <a:latin typeface="Calibri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39" y="50017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A0"/>
                </a:solidFill>
                <a:latin typeface="Calibri"/>
              </a:rPr>
              <a:t>Tech Concentration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4480560"/>
            <a:ext cx="2560320" cy="896112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19" y="452628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8A84B"/>
                </a:solidFill>
                <a:latin typeface="Calibri"/>
              </a:rPr>
              <a:t>$10M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50017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A0"/>
                </a:solidFill>
                <a:latin typeface="Calibri"/>
              </a:rPr>
              <a:t>Foundation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080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A0"/>
                </a:solidFill>
                <a:latin typeface="Calibri"/>
              </a:rPr>
              <a:t>Case Study  |  February 2026  |  For Illustrative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4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84B"/>
                </a:solidFill>
                <a:latin typeface="Calibri"/>
              </a:rPr>
              <a:t>What we will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80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1893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997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Risk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806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15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423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Tax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232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SBL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041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8498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658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23444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1234440"/>
            <a:ext cx="347472" cy="65836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1362456"/>
            <a:ext cx="3108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i="0" dirty="0">
                <a:solidFill>
                  <a:srgbClr val="C8A84B"/>
                </a:solidFill>
                <a:latin typeface="Calibri"/>
              </a:rPr>
              <a:t>1</a:t>
            </a:r>
            <a:endParaRPr sz="1300" b="1" i="0" dirty="0">
              <a:solidFill>
                <a:srgbClr val="C8A84B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1289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72"/>
                </a:solidFill>
                <a:latin typeface="Calibri"/>
              </a:rPr>
              <a:t>The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5910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Why a 90% concentrated tech position represents a structural risk — not just volatility.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96596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1965960"/>
            <a:ext cx="347472" cy="65836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2093976"/>
            <a:ext cx="3108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i="0" dirty="0">
                <a:solidFill>
                  <a:srgbClr val="C8A84B"/>
                </a:solidFill>
                <a:latin typeface="Calibri"/>
              </a:rPr>
              <a:t>2</a:t>
            </a:r>
            <a:endParaRPr sz="1300" b="1" i="0" dirty="0">
              <a:solidFill>
                <a:srgbClr val="C8A84B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20208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72"/>
                </a:solidFill>
                <a:latin typeface="Calibri"/>
              </a:rPr>
              <a:t>Risk by the Numbers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3225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VaR, maximum drawdown, beta, and correlation data quantifying the exposure.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9748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2697480"/>
            <a:ext cx="347472" cy="65836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2825496"/>
            <a:ext cx="3108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i="0" dirty="0">
                <a:solidFill>
                  <a:srgbClr val="C8A84B"/>
                </a:solidFill>
                <a:latin typeface="Calibri"/>
              </a:rPr>
              <a:t>3</a:t>
            </a:r>
            <a:endParaRPr sz="1300" b="1" i="0" dirty="0">
              <a:solidFill>
                <a:srgbClr val="C8A84B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27523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72"/>
                </a:solidFill>
                <a:latin typeface="Calibri"/>
              </a:rPr>
              <a:t>The Recommendation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0540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A 7-asset-class institutional model targeting better risk-adjusted returns.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42900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3429000"/>
            <a:ext cx="347472" cy="65836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" y="3557016"/>
            <a:ext cx="3108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i="0" dirty="0">
                <a:solidFill>
                  <a:srgbClr val="C8A84B"/>
                </a:solidFill>
                <a:latin typeface="Calibri"/>
              </a:rPr>
              <a:t>4</a:t>
            </a:r>
            <a:endParaRPr sz="1300" b="1" i="0" dirty="0">
              <a:solidFill>
                <a:srgbClr val="C8A84B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" y="3483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72"/>
                </a:solidFill>
                <a:latin typeface="Calibri"/>
              </a:rPr>
              <a:t>Asset Allocation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7856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Side-by-side breakdown: current portfolio vs. optimized diversified model.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23444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1234440"/>
            <a:ext cx="347472" cy="65836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27648" y="1362456"/>
            <a:ext cx="3108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i="0" dirty="0">
                <a:solidFill>
                  <a:srgbClr val="C8A84B"/>
                </a:solidFill>
                <a:latin typeface="Calibri"/>
              </a:rPr>
              <a:t>5</a:t>
            </a:r>
            <a:endParaRPr sz="1300" b="1" i="0" dirty="0">
              <a:solidFill>
                <a:srgbClr val="C8A84B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20840" y="1289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72"/>
                </a:solidFill>
                <a:latin typeface="Calibri"/>
              </a:rPr>
              <a:t>Tax Transition Strategy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15910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Managing the $6.86M tax liability through phased liquidation and offset strategies.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196596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1965960"/>
            <a:ext cx="347472" cy="65836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27648" y="2093976"/>
            <a:ext cx="3108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i="0" dirty="0">
                <a:solidFill>
                  <a:srgbClr val="C8A84B"/>
                </a:solidFill>
                <a:latin typeface="Calibri"/>
              </a:rPr>
              <a:t>6</a:t>
            </a:r>
            <a:endParaRPr sz="1300" b="1" i="0" dirty="0">
              <a:solidFill>
                <a:srgbClr val="C8A84B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20840" y="20208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72"/>
                </a:solidFill>
                <a:latin typeface="Calibri"/>
              </a:rPr>
              <a:t>Securities-Based Lending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22400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Using a $5M credit facility to seed the $10M Private Foundation — without triggering additional gains.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269748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09360" y="2697480"/>
            <a:ext cx="347472" cy="65836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27648" y="2825496"/>
            <a:ext cx="3108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i="0" dirty="0">
                <a:solidFill>
                  <a:srgbClr val="C8A84B"/>
                </a:solidFill>
                <a:latin typeface="Calibri"/>
              </a:rPr>
              <a:t>7</a:t>
            </a:r>
            <a:endParaRPr sz="1300" b="1" i="0" dirty="0">
              <a:solidFill>
                <a:srgbClr val="C8A84B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720840" y="27523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72"/>
                </a:solidFill>
                <a:latin typeface="Calibri"/>
              </a:rPr>
              <a:t>Goals-Based Planning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30540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20-year projection across bear, base, and bull scenarios.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342900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09360" y="3429000"/>
            <a:ext cx="347472" cy="65836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27648" y="3557016"/>
            <a:ext cx="3108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i="0" dirty="0">
                <a:solidFill>
                  <a:srgbClr val="C8A84B"/>
                </a:solidFill>
                <a:latin typeface="Calibri"/>
              </a:rPr>
              <a:t>8</a:t>
            </a:r>
            <a:endParaRPr sz="1300" b="1" i="0" dirty="0">
              <a:solidFill>
                <a:srgbClr val="C8A84B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720840" y="3483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72"/>
                </a:solidFill>
                <a:latin typeface="Calibri"/>
              </a:rPr>
              <a:t>Implementation Timeline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37856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18-month phased roadmap with specialist team and key milestones.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84B"/>
                </a:solidFill>
                <a:latin typeface="Calibri"/>
              </a:rPr>
              <a:t>Concentrated equity is not a portfolio — it is a bet.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80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1893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997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Risk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806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15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423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Tax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232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SBL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041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8498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658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234440"/>
            <a:ext cx="53949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D72"/>
                </a:solidFill>
                <a:latin typeface="Calibri"/>
              </a:rPr>
              <a:t>CURRENT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682496"/>
            <a:ext cx="11457432" cy="1828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1801368"/>
            <a:ext cx="7315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18013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90% Allocated to Tech Equity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07568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A single sector drives virtually all portfolio outcomes. One regulatory shift, earnings miss, or macro rotation can permanently impair wealth.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15768"/>
            <a:ext cx="7315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27157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$18.5M in Unrealized Gains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990087"/>
            <a:ext cx="5074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The position cannot be unwound without a significant tax event. Inaction is not neutral</a:t>
            </a:r>
            <a:r>
              <a:rPr lang="en-US" sz="1000" b="0" i="0" dirty="0">
                <a:solidFill>
                  <a:srgbClr val="404040"/>
                </a:solidFill>
                <a:latin typeface="Calibri"/>
              </a:rPr>
              <a:t>,</a:t>
            </a:r>
            <a:r>
              <a:rPr lang="en-US" sz="1000" dirty="0">
                <a:solidFill>
                  <a:srgbClr val="404040"/>
                </a:solidFill>
                <a:latin typeface="Calibri"/>
              </a:rPr>
              <a:t> as</a:t>
            </a:r>
            <a:r>
              <a:rPr sz="1000" b="0" i="0" dirty="0">
                <a:solidFill>
                  <a:srgbClr val="404040"/>
                </a:solidFill>
                <a:latin typeface="Calibri"/>
              </a:rPr>
              <a:t> it compounds the concentration problem.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30168"/>
            <a:ext cx="7315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36301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45% Maximum Drawdown Exposure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904487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04040"/>
                </a:solidFill>
                <a:latin typeface="Calibri"/>
              </a:rPr>
              <a:t>In a 2008- or 2022-style drawdown, the portfolio could lose nearly half its value with no fixed income or alternatives to cushion the decline.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44568"/>
            <a:ext cx="7315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45445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$112,500 Annual Income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81888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A 0.5% dividend yield on a $25M portfolio generates minimal cash flow. Lifestyle and philanthropic goals require a structural income solution.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58968"/>
            <a:ext cx="7315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54589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No Alternative Asset Exposure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73328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Zero allocation to private equity, real estate, or hedge strategies. The client captures none of the illiquidity premium available at this wealth level.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1234440"/>
            <a:ext cx="5760720" cy="5166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84B"/>
                </a:solidFill>
                <a:latin typeface="Calibri"/>
              </a:rPr>
              <a:t>THE COST OF INACTION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1492" y="1700784"/>
            <a:ext cx="5577840" cy="713232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58652" y="1746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Portfolio Beta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7572" y="17282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C00000"/>
                </a:solidFill>
                <a:latin typeface="Calibri"/>
              </a:rPr>
              <a:t>1.35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8652" y="213969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vs. 0.88 optimized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1492" y="2487168"/>
            <a:ext cx="5577840" cy="713232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58652" y="2532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Correlation to S&amp;P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7572" y="2514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C00000"/>
                </a:solidFill>
                <a:latin typeface="Calibri"/>
              </a:rPr>
              <a:t>0.94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8652" y="292608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Almost no true diversification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1492" y="3273552"/>
            <a:ext cx="5577840" cy="713232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58652" y="3319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Value at Risk (95%)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7572" y="33009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C00000"/>
                </a:solidFill>
                <a:latin typeface="Calibri"/>
              </a:rPr>
              <a:t>$4.25M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8652" y="371246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Single-day loss potential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1492" y="4059936"/>
            <a:ext cx="5577840" cy="713232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58652" y="4105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Max Drawdown (est.)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47572" y="4087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C00000"/>
                </a:solidFill>
                <a:latin typeface="Calibri"/>
              </a:rPr>
              <a:t>45%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58652" y="4498847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Historical analog: 2022 tech rout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1492" y="4846320"/>
            <a:ext cx="5577840" cy="713232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58652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Sharpe Ratio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47572" y="4873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C00000"/>
                </a:solidFill>
                <a:latin typeface="Calibri"/>
              </a:rPr>
              <a:t>0.38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58652" y="528523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Poor risk-adjusted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1492" y="5632704"/>
            <a:ext cx="5577840" cy="713232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58652" y="5678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Income Generated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47572" y="56601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C00000"/>
                </a:solidFill>
                <a:latin typeface="Calibri"/>
              </a:rPr>
              <a:t>$112K/yr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58652" y="607161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vs. $625K in optimized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RISK BY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84B"/>
                </a:solidFill>
                <a:latin typeface="Calibri"/>
              </a:rPr>
              <a:t>Quantifying the exposure before recommending a solution.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80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1893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997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Risk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806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15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423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Tax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232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SBL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041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8498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658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" y="1234440"/>
            <a:ext cx="1828800" cy="987552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9476" y="126187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CURRENT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C00000"/>
                </a:solidFill>
                <a:latin typeface="Calibri"/>
              </a:rPr>
              <a:t>1.35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" y="195681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Portfolio Beta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" y="224028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9476" y="22585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3C"/>
                </a:solidFill>
                <a:latin typeface="Calibri"/>
              </a:rPr>
              <a:t>↓ 34.8%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" y="2532888"/>
            <a:ext cx="1828800" cy="987552"/>
          </a:xfrm>
          <a:prstGeom prst="rect">
            <a:avLst/>
          </a:prstGeom>
          <a:solidFill>
            <a:srgbClr val="00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9476" y="25603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03C"/>
                </a:solidFill>
                <a:latin typeface="Calibri"/>
              </a:rPr>
              <a:t>OPTIMIZED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" y="277977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0703C"/>
                </a:solidFill>
                <a:latin typeface="Calibri"/>
              </a:rPr>
              <a:t>0.88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" y="325526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Portfolio Beta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2284" y="1234440"/>
            <a:ext cx="1828800" cy="987552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18004" y="126187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CURRENT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18004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C00000"/>
                </a:solidFill>
                <a:latin typeface="Calibri"/>
              </a:rPr>
              <a:t>$4.25M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18004" y="195681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Value at Risk (95%)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72284" y="224028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18004" y="22585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3C"/>
                </a:solidFill>
                <a:latin typeface="Calibri"/>
              </a:rPr>
              <a:t>↓ 55.9%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72284" y="2532888"/>
            <a:ext cx="1828800" cy="987552"/>
          </a:xfrm>
          <a:prstGeom prst="rect">
            <a:avLst/>
          </a:prstGeom>
          <a:solidFill>
            <a:srgbClr val="00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18004" y="25603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03C"/>
                </a:solidFill>
                <a:latin typeface="Calibri"/>
              </a:rPr>
              <a:t>OPTIMIZED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18004" y="277977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0703C"/>
                </a:solidFill>
                <a:latin typeface="Calibri"/>
              </a:rPr>
              <a:t>$1.875M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18004" y="325526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Value at Risk (95%)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0812" y="1234440"/>
            <a:ext cx="1828800" cy="987552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56532" y="126187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CURRENT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6532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C00000"/>
                </a:solidFill>
                <a:latin typeface="Calibri"/>
              </a:rPr>
              <a:t>45.0%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6532" y="195681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Max Drawdown (est.)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10812" y="224028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56532" y="22585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3C"/>
                </a:solidFill>
                <a:latin typeface="Calibri"/>
              </a:rPr>
              <a:t>↓ 51.1%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10812" y="2532888"/>
            <a:ext cx="1828800" cy="987552"/>
          </a:xfrm>
          <a:prstGeom prst="rect">
            <a:avLst/>
          </a:prstGeom>
          <a:solidFill>
            <a:srgbClr val="00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56532" y="25603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03C"/>
                </a:solidFill>
                <a:latin typeface="Calibri"/>
              </a:rPr>
              <a:t>OPTIMIZED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6532" y="277977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0703C"/>
                </a:solidFill>
                <a:latin typeface="Calibri"/>
              </a:rPr>
              <a:t>22.0%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6532" y="325526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Max Drawdown (est.)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9340" y="1234440"/>
            <a:ext cx="1828800" cy="987552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95060" y="126187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CURRENT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5060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C00000"/>
                </a:solidFill>
                <a:latin typeface="Calibri"/>
              </a:rPr>
              <a:t>95/100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5060" y="195681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Concentration Risk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9340" y="224028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95060" y="22585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3C"/>
                </a:solidFill>
                <a:latin typeface="Calibri"/>
              </a:rPr>
              <a:t>↓ 84.2%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49340" y="2532888"/>
            <a:ext cx="1828800" cy="987552"/>
          </a:xfrm>
          <a:prstGeom prst="rect">
            <a:avLst/>
          </a:prstGeom>
          <a:solidFill>
            <a:srgbClr val="00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95060" y="25603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03C"/>
                </a:solidFill>
                <a:latin typeface="Calibri"/>
              </a:rPr>
              <a:t>OPTIMIZED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5060" y="277977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0703C"/>
                </a:solidFill>
                <a:latin typeface="Calibri"/>
              </a:rPr>
              <a:t>15/100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5060" y="325526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Concentration Risk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87868" y="1234440"/>
            <a:ext cx="1828800" cy="987552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133588" y="126187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CURRENT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3588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C00000"/>
                </a:solidFill>
                <a:latin typeface="Calibri"/>
              </a:rPr>
              <a:t>0.38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3588" y="195681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Sharpe Ratio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87868" y="224028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33588" y="22585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3C"/>
                </a:solidFill>
                <a:latin typeface="Calibri"/>
              </a:rPr>
              <a:t>↑ 78.9%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87868" y="2532888"/>
            <a:ext cx="1828800" cy="987552"/>
          </a:xfrm>
          <a:prstGeom prst="rect">
            <a:avLst/>
          </a:prstGeom>
          <a:solidFill>
            <a:srgbClr val="00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33588" y="25603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03C"/>
                </a:solidFill>
                <a:latin typeface="Calibri"/>
              </a:rPr>
              <a:t>OPTIMIZED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3588" y="277977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0703C"/>
                </a:solidFill>
                <a:latin typeface="Calibri"/>
              </a:rPr>
              <a:t>0.68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3588" y="325526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Sharpe Ratio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026396" y="1234440"/>
            <a:ext cx="1828800" cy="987552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072116" y="126187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CURRENT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72116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C00000"/>
                </a:solidFill>
                <a:latin typeface="Calibri"/>
              </a:rPr>
              <a:t>$112K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72116" y="195681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Annual Income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26396" y="224028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072116" y="22585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3C"/>
                </a:solidFill>
                <a:latin typeface="Calibri"/>
              </a:rPr>
              <a:t>↑ 455%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26396" y="2532888"/>
            <a:ext cx="1828800" cy="987552"/>
          </a:xfrm>
          <a:prstGeom prst="rect">
            <a:avLst/>
          </a:prstGeom>
          <a:solidFill>
            <a:srgbClr val="00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072116" y="25603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03C"/>
                </a:solidFill>
                <a:latin typeface="Calibri"/>
              </a:rPr>
              <a:t>OPTIMIZED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72116" y="277977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0703C"/>
                </a:solidFill>
                <a:latin typeface="Calibri"/>
              </a:rPr>
              <a:t>$625K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72116" y="325526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Annual Income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3703320"/>
            <a:ext cx="11457432" cy="84124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65760" y="3703320"/>
            <a:ext cx="73152" cy="84124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48640" y="3749039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KEY INSIGHT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4023360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The current portfolio takes on 53% more market risk than the optimized model while generating 82% less annual income. This is not a trade-off</a:t>
            </a:r>
            <a:r>
              <a:rPr lang="en-US" sz="1100" dirty="0">
                <a:solidFill>
                  <a:srgbClr val="FFFFFF"/>
                </a:solidFill>
                <a:latin typeface="Calibri"/>
              </a:rPr>
              <a:t>; 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it is an inefficiency. Diversification does not sacrifice return</a:t>
            </a:r>
            <a:r>
              <a:rPr lang="en-US" sz="1100" b="0" i="0" dirty="0">
                <a:solidFill>
                  <a:srgbClr val="FFFFFF"/>
                </a:solidFill>
                <a:latin typeface="Calibri"/>
              </a:rPr>
              <a:t> as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it improves the quality of each unit of risk taken.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4709160"/>
            <a:ext cx="11457432" cy="29260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57200" y="4736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0" y="4736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0" y="4736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OPTIMIZED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01200" y="4736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CHANGE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029200"/>
            <a:ext cx="11457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50749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  <a:latin typeface="Calibri"/>
              </a:rPr>
              <a:t>Number of Holdings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14800" y="5074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0000"/>
                </a:solidFill>
                <a:latin typeface="Calibri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5074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03C"/>
                </a:solidFill>
                <a:latin typeface="Calibri"/>
              </a:rPr>
              <a:t>145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01200" y="5074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+1,713%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5376672"/>
            <a:ext cx="1145743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57200" y="54223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  <a:latin typeface="Calibri"/>
              </a:rPr>
              <a:t>Asset Classes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0" y="54223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0" y="54223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03C"/>
                </a:solidFill>
                <a:latin typeface="Calibri"/>
              </a:rPr>
              <a:t>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01200" y="5422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+5 classes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5724144"/>
            <a:ext cx="11457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57200" y="57698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  <a:latin typeface="Calibri"/>
              </a:rPr>
              <a:t>Geographic Exposure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4800" y="576986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0000"/>
                </a:solidFill>
                <a:latin typeface="Calibri"/>
              </a:rPr>
              <a:t>1 Region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0" y="576986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03C"/>
                </a:solidFill>
                <a:latin typeface="Calibri"/>
              </a:rPr>
              <a:t>4 Regions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01200" y="57698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+300%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65760" y="6071616"/>
            <a:ext cx="1145743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57200" y="61173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  <a:latin typeface="Calibri"/>
              </a:rPr>
              <a:t>Correlation to S&amp;P 500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14800" y="61173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0000"/>
                </a:solidFill>
                <a:latin typeface="Calibri"/>
              </a:rPr>
              <a:t>0.94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0" y="61173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03C"/>
                </a:solidFill>
                <a:latin typeface="Calibri"/>
              </a:rPr>
              <a:t>0.68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01200" y="61173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↓ 27.7%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84B"/>
                </a:solidFill>
                <a:latin typeface="Calibri"/>
              </a:rPr>
              <a:t>An institutional-grade model built for long-term wealth preservation and growth.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80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1893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997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Risk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806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15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423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Tax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232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SBL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041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8498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658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234440"/>
            <a:ext cx="3657600" cy="47548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1280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DIVERSIFY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709928"/>
            <a:ext cx="365760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180136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Expand from 2 to 7 asset classes across public equity, fixed income, private equity, real estate, and cash.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1234440"/>
            <a:ext cx="3657600" cy="475488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1688" y="1280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DE-RISK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1709928"/>
            <a:ext cx="365760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7408" y="180136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Reduce portfolio beta from 1.35 to 0.88. Cut Value at Risk by 55.9%. Target a Sharpe Ratio improvement of 78.9%.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1234440"/>
            <a:ext cx="3657600" cy="47548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66175" y="1280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6" y="1709928"/>
            <a:ext cx="365760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11896" y="180136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Grow annual income from $112,500 to $625,000. Use $5M SBL credit facility to seed $10M Private Foundation without triggering additional capital gains.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82549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D72"/>
                </a:solidFill>
                <a:latin typeface="Calibri"/>
              </a:rPr>
              <a:t>TARGET ALLOCATION  |  OPTIMIZED DIVERSIFIED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035808"/>
            <a:ext cx="11457432" cy="29260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063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ASSET CLASS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063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ALLOCATION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063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355848"/>
            <a:ext cx="114574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3355848"/>
            <a:ext cx="109728" cy="4572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34381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Public Equity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41985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2D72"/>
                </a:solidFill>
                <a:latin typeface="Calibri"/>
              </a:rPr>
              <a:t>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4381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US, International, EM across large, mid, small cap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831335"/>
            <a:ext cx="11457432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3831335"/>
            <a:ext cx="109728" cy="457200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391363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Fixed Income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389534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703C"/>
                </a:solidFill>
                <a:latin typeface="Calibri"/>
              </a:rPr>
              <a:t>23%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91363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Investment grade, high yield, municipal bonds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06824"/>
            <a:ext cx="114574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5760" y="4306824"/>
            <a:ext cx="109728" cy="4572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4389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Private Equity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43708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030A0"/>
                </a:solidFill>
                <a:latin typeface="Calibri"/>
              </a:rPr>
              <a:t>12%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3891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Buyout funds + venture capital — illiquidity premium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782312"/>
            <a:ext cx="11457432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65760" y="4782312"/>
            <a:ext cx="109728" cy="457200"/>
          </a:xfrm>
          <a:prstGeom prst="rect">
            <a:avLst/>
          </a:prstGeom>
          <a:solidFill>
            <a:srgbClr val="C8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48646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Real Estate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484632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85000"/>
                </a:solidFill>
                <a:latin typeface="Calibri"/>
              </a:rPr>
              <a:t>8%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48646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Core + opportunistic — inflation hedge, income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257800"/>
            <a:ext cx="114574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65760" y="5257800"/>
            <a:ext cx="109728" cy="4572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8640" y="53400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Cash &amp; Equivalents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532180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0A0A0"/>
                </a:solidFill>
                <a:latin typeface="Calibri"/>
              </a:rPr>
              <a:t>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53400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Money market — liquidity buffer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ASSET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8A84B"/>
                </a:solidFill>
                <a:latin typeface="Calibri"/>
              </a:rPr>
              <a:t>Before and after: a side-by-side comparison of the full balance sheet.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80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1893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997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Risk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806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15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423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Tax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232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SBL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041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8498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658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234440"/>
            <a:ext cx="5394960" cy="3200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5040" y="1234440"/>
            <a:ext cx="5760720" cy="320040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12710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CURRENT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127101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OPTIMIZED DIVERSIFIED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691640"/>
            <a:ext cx="4690872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48072" y="1691640"/>
            <a:ext cx="521208" cy="59436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2331720"/>
            <a:ext cx="4636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US Large Cap Tech
90%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691640"/>
            <a:ext cx="1348740" cy="594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75220" y="1691640"/>
            <a:ext cx="917143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92363" y="1691640"/>
            <a:ext cx="1240840" cy="594360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633204" y="1691640"/>
            <a:ext cx="647395" cy="5943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280599" y="1691640"/>
            <a:ext cx="431596" cy="594360"/>
          </a:xfrm>
          <a:prstGeom prst="rect">
            <a:avLst/>
          </a:prstGeom>
          <a:solidFill>
            <a:srgbClr val="C8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712196" y="1691640"/>
            <a:ext cx="701344" cy="594360"/>
          </a:xfrm>
          <a:prstGeom prst="rect">
            <a:avLst/>
          </a:prstGeom>
          <a:solidFill>
            <a:srgbClr val="00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413540" y="1691640"/>
            <a:ext cx="107899" cy="59436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53912" y="2331720"/>
            <a:ext cx="12938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US Large Cap
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2652" y="2331720"/>
            <a:ext cx="862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International / EM
17%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9795" y="2331720"/>
            <a:ext cx="1185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Fixed Income
23%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60636" y="2331720"/>
            <a:ext cx="5925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Private Equity
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39628" y="2331720"/>
            <a:ext cx="64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US Mid &amp; Small Cap
13%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679193"/>
            <a:ext cx="5394960" cy="29260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26700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HOLDING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26700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ALLOC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26700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97180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29992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US Large Cap Tech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29992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90.0%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29992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$22,500,000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374136"/>
            <a:ext cx="53949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34015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Cash &amp; Equivalents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34015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10.0%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 $2,500,000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776473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38039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26080" y="38039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40480" y="38039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65760" y="4178808"/>
            <a:ext cx="5394960" cy="38404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4206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0" y="4206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42062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 dirty="0">
                <a:solidFill>
                  <a:srgbClr val="FFFFFF"/>
                </a:solidFill>
                <a:latin typeface="Calibri"/>
              </a:rPr>
              <a:t>$25,000,000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2670048"/>
            <a:ext cx="5760720" cy="292608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2648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ASSET CLASS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ALLOC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2962655"/>
            <a:ext cx="57607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298094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Public Equity (Total)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29809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55%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298094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Calibri"/>
              </a:rPr>
              <a:t>$13,750,000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3310127"/>
            <a:ext cx="5760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126480" y="3328415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  — US Large Cap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3328415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25%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332841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  <a:latin typeface="Calibri"/>
              </a:rPr>
              <a:t> $6,250,000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3657600"/>
            <a:ext cx="57607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126480" y="3675887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  — Intl / EM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3675887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17%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0" y="3675887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  <a:latin typeface="Calibri"/>
              </a:rPr>
              <a:t> $4,250,000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35040" y="4005072"/>
            <a:ext cx="5760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126480" y="4023359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alibri"/>
              </a:rPr>
              <a:t>  — US Mid &amp; Small Cap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61120" y="4023359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13%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8400" y="402335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  <a:latin typeface="Calibri"/>
              </a:rPr>
              <a:t> $3,250,000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4352544"/>
            <a:ext cx="57607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26480" y="4370831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Fixed Income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0" y="4370831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23%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58400" y="4370831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Calibri"/>
              </a:rPr>
              <a:t> $5,750,000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35040" y="4700016"/>
            <a:ext cx="5760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126480" y="4718303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Private Equity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61120" y="4718303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12%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58400" y="4718303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Calibri"/>
              </a:rPr>
              <a:t> $3,000,000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35040" y="5047488"/>
            <a:ext cx="576072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126480" y="506577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Real Estate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61120" y="50657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8%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0" y="506577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Calibri"/>
              </a:rPr>
              <a:t> $2,000,000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35040" y="5394959"/>
            <a:ext cx="5760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126480" y="5413247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Cash &amp; Equivalents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61120" y="5413247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2%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58400" y="5413247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  <a:latin typeface="Calibri"/>
              </a:rPr>
              <a:t>   $500,000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35040" y="5742432"/>
            <a:ext cx="5760720" cy="329184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126480" y="576072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61120" y="576072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058400" y="576072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$25,000,000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TAX TRANSITION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8A84B"/>
                </a:solidFill>
                <a:latin typeface="Calibri"/>
              </a:rPr>
              <a:t>The $6.86M question</a:t>
            </a:r>
            <a:r>
              <a:rPr lang="en-US" sz="1400" dirty="0">
                <a:solidFill>
                  <a:srgbClr val="C8A84B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C8A84B"/>
                </a:solidFill>
                <a:latin typeface="Calibri"/>
              </a:rPr>
              <a:t>and five ways to reduce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80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1893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997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Risk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806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15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423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Tax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232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SBL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041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8498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658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234440"/>
            <a:ext cx="53949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D72"/>
                </a:solidFill>
                <a:latin typeface="Calibri"/>
              </a:rPr>
              <a:t>THE TAX REALITY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645920"/>
            <a:ext cx="11457432" cy="1828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1819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C00000"/>
                </a:solidFill>
                <a:latin typeface="Calibri"/>
              </a:rPr>
              <a:t>$18,500,000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19019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Unrealized Capital Gains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4597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C00000"/>
                </a:solidFill>
                <a:latin typeface="Calibri"/>
              </a:rPr>
              <a:t>37.1%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2542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Blended Effective Rate (Fed + NIIT + CA)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0998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C00000"/>
                </a:solidFill>
                <a:latin typeface="Calibri"/>
              </a:rPr>
              <a:t>$6,863,500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1821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Estimated Gross Tax 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398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00703C"/>
                </a:solidFill>
                <a:latin typeface="Calibri"/>
              </a:rPr>
              <a:t>($850,000)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38221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Tax-Loss Harvesting Offset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61688"/>
            <a:ext cx="521208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3799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C00000"/>
                </a:solidFill>
                <a:latin typeface="Calibri"/>
              </a:rPr>
              <a:t>$6,013,500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462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  <a:latin typeface="Calibri"/>
              </a:rPr>
              <a:t>NET Tax Liability After Offset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474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D72"/>
                </a:solidFill>
                <a:latin typeface="Calibri"/>
              </a:rPr>
              <a:t>5-TRANCHE LIQUIDATION SCHEDULE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49240"/>
            <a:ext cx="868680" cy="594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3675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A84B"/>
                </a:solidFill>
                <a:latin typeface="Calibri"/>
              </a:rPr>
              <a:t>T1
Mo.4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63270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$4.5M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35607" y="5349240"/>
            <a:ext cx="868680" cy="594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35607" y="53675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A84B"/>
                </a:solidFill>
                <a:latin typeface="Calibri"/>
              </a:rPr>
              <a:t>T2
Mo.5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35607" y="563270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$4.5M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14015" y="5349240"/>
            <a:ext cx="868680" cy="594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14015" y="53675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A84B"/>
                </a:solidFill>
                <a:latin typeface="Calibri"/>
              </a:rPr>
              <a:t>T3
Mo.6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14015" y="563270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$4.5M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92423" y="5349240"/>
            <a:ext cx="868680" cy="594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92423" y="53675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A84B"/>
                </a:solidFill>
                <a:latin typeface="Calibri"/>
              </a:rPr>
              <a:t>T4
Mo.7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92423" y="563270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$4.5M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70831" y="5349240"/>
            <a:ext cx="868680" cy="5943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70831" y="53675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A84B"/>
                </a:solidFill>
                <a:latin typeface="Calibri"/>
              </a:rPr>
              <a:t>T5
Mo.8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1" y="563270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$4.5M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234440"/>
            <a:ext cx="5760720" cy="507492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17920" y="13258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84B"/>
                </a:solidFill>
                <a:latin typeface="Calibri"/>
              </a:rPr>
              <a:t>TAX MITIGATION STRATEGIES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1737360"/>
            <a:ext cx="5577840" cy="822960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126480" y="1737360"/>
            <a:ext cx="54864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63640" y="17922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1.  Tax-Loss Harvesting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2084831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$850K offset from identified losses across portfolio positions.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2670048"/>
            <a:ext cx="5577840" cy="822960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6" name="Rectangle 55"/>
          <p:cNvSpPr/>
          <p:nvPr/>
        </p:nvSpPr>
        <p:spPr>
          <a:xfrm>
            <a:off x="6126480" y="2670048"/>
            <a:ext cx="54864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63640" y="27249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2.  Installment Liquidation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01752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5 monthly tranches (Months 4-8). Straddle December/January to split gains across two tax years.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602736"/>
            <a:ext cx="5577840" cy="822960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126480" y="3602736"/>
            <a:ext cx="54864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63640" y="3657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3.  Donor-Advised Fund (DAF)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395020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Donate appreciated shares directly. Avoid gains entirely; receive FMV deduction.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4535424"/>
            <a:ext cx="5577840" cy="822960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126480" y="4535424"/>
            <a:ext cx="54864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63640" y="45902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4.  Qualified Opportunity Zone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3640" y="4882896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Invest deferred gains in QOZ fund. Defer recognition; exclude future appreciation.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5468112"/>
            <a:ext cx="5577840" cy="822960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126480" y="5468112"/>
            <a:ext cx="54864" cy="8229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263640" y="55229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5.  Charitable Remainder Trust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3640" y="5815584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Transfer stock to CRT. Avoid immediate gain; receive income stream and estate benefit.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SECURITIES-BASED LENDING (SBL)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84B"/>
                </a:solidFill>
                <a:latin typeface="Calibri"/>
              </a:rPr>
              <a:t>Seed the $10M Private Foundation without selling a single share.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80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1893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997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Risk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806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15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423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Tax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232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SBL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041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8498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658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234440"/>
            <a:ext cx="11457432" cy="65836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1234440"/>
            <a:ext cx="73152" cy="65836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26187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THE CORE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508760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The tax cost of liquidating $5M of tech stock to fund the foundation: $1,669,500. The annual after-tax cost of a $5M SBL credit facility at 6.50%: $204,750. Over 10 years, the credit strategy outperforms liquidation by $7,124,500</a:t>
            </a:r>
            <a:r>
              <a:rPr lang="en-US" sz="1100" dirty="0">
                <a:solidFill>
                  <a:srgbClr val="FFFFFF"/>
                </a:solidFill>
                <a:latin typeface="Calibri"/>
              </a:rPr>
              <a:t> by k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eeping $5M compounding in the portfolio while the foundation receives full seed capital.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029968"/>
            <a:ext cx="5394960" cy="292608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066543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CREDIT FACILITY STRUCTURE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359152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24323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D72"/>
                </a:solidFill>
                <a:latin typeface="Calibri"/>
              </a:rPr>
              <a:t>Loan Amount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243230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703C"/>
                </a:solidFill>
                <a:latin typeface="Calibri"/>
              </a:rPr>
              <a:t>$5,000,000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43200"/>
            <a:ext cx="53949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816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Collateral Pledged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28163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$15,000,000  (60% of portfolio)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27248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2004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Loan-to-Value (LTV)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2004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33.3%  —  conservative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511296"/>
            <a:ext cx="53949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35844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Margin Call Trigger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584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40.0% LTV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895344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39684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Interest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396849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6.50%  (SOFR + 200 bps)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279392"/>
            <a:ext cx="53949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3525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D72"/>
                </a:solidFill>
                <a:latin typeface="Calibri"/>
              </a:rPr>
              <a:t>After-Tax Effective 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43525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703C"/>
                </a:solidFill>
                <a:latin typeface="Calibri"/>
              </a:rPr>
              <a:t>4.10%  (at 37% bracket)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663440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47365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D72"/>
                </a:solidFill>
                <a:latin typeface="Calibri"/>
              </a:rPr>
              <a:t>Annual Interest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47365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703C"/>
                </a:solidFill>
                <a:latin typeface="Calibri"/>
              </a:rPr>
              <a:t>$325,000 gross  /  $204,750 net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047488"/>
            <a:ext cx="53949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5120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Loan Structure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51206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Interest-only  |  Annually renewable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431536"/>
            <a:ext cx="5394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55046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Use of Proceeds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0" y="55046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Private Foundation seed capital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2029968"/>
            <a:ext cx="5760720" cy="29260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26480" y="2066543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SBL vs. LIQUIDATION — 10-YEAR COMPARISON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2359152"/>
            <a:ext cx="5760720" cy="38404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26480" y="2432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2432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Liquidate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2432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Use SBL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2743200"/>
            <a:ext cx="57607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26480" y="28163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Immediate Tax Cost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28163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0000"/>
                </a:solidFill>
                <a:latin typeface="Calibri"/>
              </a:rPr>
              <a:t>$1,669,500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28163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$0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3127248"/>
            <a:ext cx="5760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32004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Annual Carry Cost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32004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0000"/>
                </a:solidFill>
                <a:latin typeface="Calibri"/>
              </a:rP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9840" y="32004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$204,750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3511296"/>
            <a:ext cx="57607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126480" y="35844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Capital to Foundation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35844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0000"/>
                </a:solidFill>
                <a:latin typeface="Calibri"/>
              </a:rPr>
              <a:t>$3,330,500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0" y="35844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$5,000,000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3895344"/>
            <a:ext cx="5760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126480" y="39684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Portfolio Compounding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12480" y="39684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0000"/>
                </a:solidFill>
                <a:latin typeface="Calibri"/>
              </a:rPr>
              <a:t>$20M base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49840" y="39684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$25M base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35040" y="4279392"/>
            <a:ext cx="57607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126480" y="43525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10-Yr Interest Cost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12480" y="43525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0000"/>
                </a:solidFill>
                <a:latin typeface="Calibri"/>
              </a:rPr>
              <a:t>$0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49840" y="43525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$2,047,500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4663440"/>
            <a:ext cx="5760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26480" y="47365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  <a:latin typeface="Calibri"/>
              </a:rPr>
              <a:t>Net 10-Yr SBL Advantage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7365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49840" y="47365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$7,124,500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35040" y="5074920"/>
            <a:ext cx="5760720" cy="256032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126480" y="509320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MARGIN CALL STRESS TEST  (Collateral: $15M  |  Loan: $5M)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35040" y="5330952"/>
            <a:ext cx="5760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126480" y="536752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Base Case  (0% decline)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0" y="53675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LTV: 33.3%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32720" y="536752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03C"/>
                </a:solidFill>
                <a:latin typeface="Calibri"/>
              </a:rPr>
              <a:t>NO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35040" y="5586984"/>
            <a:ext cx="576072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126480" y="56235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Moderate   (-10%)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52560" y="56235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LTV: 37.0%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32720" y="562356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03C"/>
                </a:solidFill>
                <a:latin typeface="Calibri"/>
              </a:rPr>
              <a:t>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5843016"/>
            <a:ext cx="5760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126480" y="587959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Significant (-20%)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52560" y="587959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0000"/>
                </a:solidFill>
                <a:latin typeface="Calibri"/>
              </a:rPr>
              <a:t>LTV: 41.7%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32720" y="587959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YES ⚠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35040" y="6099048"/>
            <a:ext cx="576072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126480" y="613562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Severe     (-30%)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52560" y="6135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0000"/>
                </a:solidFill>
                <a:latin typeface="Calibri"/>
              </a:rPr>
              <a:t>LTV: 47.6%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32720" y="613562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YES 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GOALS-BASED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84B"/>
                </a:solidFill>
                <a:latin typeface="Calibri"/>
              </a:rPr>
              <a:t>Three scenarios. One consistent conclusion: the optimized model funds your goals.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80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1893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997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Risk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806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15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423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Tax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232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SBL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041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8498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658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234440"/>
            <a:ext cx="356616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1261872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BEAR CASE  |  5.0% Return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618488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1645920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Net 3.0% after 2% withdrawal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56231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Conservative markets, elevated volatility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8" y="1234440"/>
            <a:ext cx="3566160" cy="38404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24528" y="1261872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BASE CASE  |  9.8% Return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3088" y="1618488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24528" y="1645920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D72"/>
                </a:solidFill>
                <a:latin typeface="Calibri"/>
              </a:rPr>
              <a:t>Net 7.8% after 2% withdrawal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1856231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Institutional long-term capital market assumptions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0416" y="1234440"/>
            <a:ext cx="3566160" cy="384048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91856" y="1261872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BULL CASE  |  13.5% Return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0416" y="1618488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91856" y="1645920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Net 11.5% after 2% withdrawal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1856" y="1856231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Favorable market environment, alternatives outperform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231136"/>
            <a:ext cx="11457432" cy="27432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22585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22585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CALENDAR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22585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BEAR (3.0% net)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2585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BASE (7.8% net)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25856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BULL (11.5% net)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523744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260603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Year 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260603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2027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26060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$19,556,095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6060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$20,467,447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606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$21,169,948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520" y="256032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30A0"/>
                </a:solidFill>
                <a:latin typeface="Calibri"/>
              </a:rPr>
              <a:t>SBL Established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907791"/>
            <a:ext cx="11457432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299008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Year 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2990087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2029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29900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$20,747,061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9900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$23,784,893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29900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$26,319,008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291839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337413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Year 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0" y="3374135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2031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33741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$22,010,557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337413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$27,640,043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337413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$32,720,449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18520" y="3328416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30A0"/>
                </a:solidFill>
                <a:latin typeface="Calibri"/>
              </a:rPr>
              <a:t>5-Year Review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3675887"/>
            <a:ext cx="11457432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375818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Year  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375818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2033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375818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$23,351,000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375818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$32,120,052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0" y="375818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$40,678,880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8520" y="3712464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30A0"/>
                </a:solidFill>
                <a:latin typeface="Calibri"/>
              </a:rPr>
              <a:t>Foundation Review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059935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200" y="414223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  <a:latin typeface="Calibri"/>
              </a:rPr>
              <a:t>Year 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0" y="414223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04040"/>
                </a:solidFill>
                <a:latin typeface="Calibri"/>
              </a:rPr>
              <a:t>2036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0" y="41422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$25,516,268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41422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D72"/>
                </a:solidFill>
                <a:latin typeface="Calibri"/>
              </a:rPr>
              <a:t>$40,237,642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41422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$56,388,895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18520" y="4096512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30A0"/>
                </a:solidFill>
                <a:latin typeface="Calibri"/>
              </a:rPr>
              <a:t>Loan Repaid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443983"/>
            <a:ext cx="11457432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452627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Year 15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28800" y="452627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2041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0" y="45262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$29,580,348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45262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$58,576,892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45262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$97,177,993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4828031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57200" y="491032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  <a:latin typeface="Calibri"/>
              </a:rPr>
              <a:t>Year 20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0" y="4910327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04040"/>
                </a:solidFill>
                <a:latin typeface="Calibri"/>
              </a:rPr>
              <a:t>2046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0" y="491032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$34,291,731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0" y="491032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D72"/>
                </a:solidFill>
                <a:latin typeface="Calibri"/>
              </a:rPr>
              <a:t>$85,274,686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491032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3C"/>
                </a:solidFill>
                <a:latin typeface="Calibri"/>
              </a:rPr>
              <a:t>$167,472,021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18520" y="4864608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30A0"/>
                </a:solidFill>
                <a:latin typeface="Calibri"/>
              </a:rPr>
              <a:t>Planning Horizon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5257800"/>
            <a:ext cx="1145743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65760" y="5257800"/>
            <a:ext cx="73152" cy="7772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48640" y="529437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84B"/>
                </a:solidFill>
                <a:latin typeface="Calibri"/>
              </a:rPr>
              <a:t>PRIVATE FOUNDATION MILESTONE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55595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Calibri"/>
              </a:rPr>
              <a:t>$5M deployed via SBL in Year 1 (no liquidation). Foundation compounds at 2.5% net (7.5% return less 5% annual grantmaking). $70,760/yr directed from diversified portfolio income ($625K/yr generated) bridges seed to $10M target. Projected value: $7.2M at Year 10, $10.0M at Year 20. Loan repaid from portfolio income — no asset sales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IMPLEMENTATION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84B"/>
                </a:solidFill>
                <a:latin typeface="Calibri"/>
              </a:rPr>
              <a:t>An 18-month phased roadmap with a specialist team at every stage.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80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1893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997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Risk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8066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15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4239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Tax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232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SBL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0412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8498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A84B"/>
                </a:solidFill>
                <a:latin typeface="Calibri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6585" y="6519672"/>
            <a:ext cx="101664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234440"/>
            <a:ext cx="3657600" cy="566928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12527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DISCOVERY
Months 1-3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801368"/>
            <a:ext cx="36576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1874519"/>
            <a:ext cx="54864" cy="5486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19476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Complete Risk Tolerance Questionnaire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25856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Private Banker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79191"/>
            <a:ext cx="54864" cy="5486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Review Holdings &amp; Cost Basis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063239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Investment Analyst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83863"/>
            <a:ext cx="54864" cy="5486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5570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Tax Consultation with CPA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867911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Wealth Planning Specialist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88536"/>
            <a:ext cx="54864" cy="5486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43616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Develop Investment Policy Statement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672583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Private Banker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93208"/>
            <a:ext cx="54864" cy="5486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Model Transition Scenarios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47725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Investment Analyst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1234440"/>
            <a:ext cx="3657600" cy="566928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61688" y="12527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EXECUTION
Months 4-11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70248" y="1801368"/>
            <a:ext cx="36576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61688" y="1874519"/>
            <a:ext cx="54864" cy="548640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71416" y="19476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5-Tranche Systematic Liquidation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71416" y="225856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Trading Desk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61688" y="2679191"/>
            <a:ext cx="54864" cy="548640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71416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Deploy to Fixed Income ($5.75M)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71416" y="3063239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Fixed Income Specialist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61688" y="3483863"/>
            <a:ext cx="54864" cy="548640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71416" y="35570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Public Equity Diversification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71416" y="3867911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Equity Specialist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61688" y="4288536"/>
            <a:ext cx="54864" cy="548640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71416" y="43616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Private Equity Capital Calls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71416" y="4672583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Alternatives Specialist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61688" y="5093208"/>
            <a:ext cx="54864" cy="548640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71416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Real Estate Investment Deployment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1416" y="547725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Real Estate Specialist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74736" y="1234440"/>
            <a:ext cx="3657600" cy="5669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66175" y="12527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MONITORING
Months 12-18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74736" y="1801368"/>
            <a:ext cx="36576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266175" y="1874519"/>
            <a:ext cx="54864" cy="5486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75904" y="19476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Portfolio Rebalancing Review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75904" y="225856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Private Banker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66175" y="2679191"/>
            <a:ext cx="54864" cy="5486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75904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Tax-Loss Harvesting ($850K target)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75904" y="3063239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Wealth Planning Specialist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66175" y="3483863"/>
            <a:ext cx="54864" cy="5486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75904" y="35570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SBL Facility Establishment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75904" y="3867911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Credit / Banking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66175" y="4288536"/>
            <a:ext cx="54864" cy="5486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75904" y="43616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Quarterly Performance Reviews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75904" y="4672583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Private Banker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66175" y="5093208"/>
            <a:ext cx="54864" cy="5486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75904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Semi-Annual Risk Assessment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75904" y="547725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Calibri"/>
              </a:rPr>
              <a:t>Investment Analyst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6080760"/>
            <a:ext cx="11457432" cy="256032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11480" y="60990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84B"/>
                </a:solidFill>
                <a:latin typeface="Calibri"/>
              </a:rPr>
              <a:t>Month 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37360" y="60990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84B"/>
                </a:solidFill>
                <a:latin typeface="Calibri"/>
              </a:rPr>
              <a:t>Month 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63239" y="60990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84B"/>
                </a:solidFill>
                <a:latin typeface="Calibri"/>
              </a:rPr>
              <a:t>Month 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94959" y="60990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84B"/>
                </a:solidFill>
                <a:latin typeface="Calibri"/>
              </a:rPr>
              <a:t>Month 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20840" y="60990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84B"/>
                </a:solidFill>
                <a:latin typeface="Calibri"/>
              </a:rPr>
              <a:t>Month 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29800" y="60990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A84B"/>
                </a:solidFill>
                <a:latin typeface="Calibri"/>
              </a:rPr>
              <a:t>Month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SUMMARY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2194560" cy="1325880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0A0"/>
                </a:solidFill>
                <a:latin typeface="Calibri"/>
              </a:rPr>
              <a:t>Risk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813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0000"/>
                </a:solidFill>
                <a:latin typeface="Calibri"/>
              </a:rPr>
              <a:t>55.9%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5681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decrease in Value at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79" y="1170432"/>
            <a:ext cx="2194560" cy="1325880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12161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0A0"/>
                </a:solidFill>
                <a:latin typeface="Calibri"/>
              </a:rPr>
              <a:t>Return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199" y="14813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03C"/>
                </a:solidFill>
                <a:latin typeface="Calibri"/>
              </a:rPr>
              <a:t>+78.9%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99" y="195681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improvement in risk-adjusted return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170432"/>
            <a:ext cx="2194560" cy="1325880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12161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0A0"/>
                </a:solidFill>
                <a:latin typeface="Calibri"/>
              </a:rPr>
              <a:t>Income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4813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03C"/>
                </a:solidFill>
                <a:latin typeface="Calibri"/>
              </a:rPr>
              <a:t>+455%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95681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annual portfolio income increase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19" y="1170432"/>
            <a:ext cx="2194560" cy="1325880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59" y="12161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0A0"/>
                </a:solidFill>
                <a:latin typeface="Calibri"/>
              </a:rPr>
              <a:t>Tax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4813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A84B"/>
                </a:solidFill>
                <a:latin typeface="Calibri"/>
              </a:rPr>
              <a:t>$850K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95681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tax-loss harvesting offset identified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170432"/>
            <a:ext cx="2194560" cy="1325880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0" y="12161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A0A0"/>
                </a:solidFill>
                <a:latin typeface="Calibri"/>
              </a:rPr>
              <a:t>Foundation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14813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03C"/>
                </a:solidFill>
                <a:latin typeface="Calibri"/>
              </a:rPr>
              <a:t>$5M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95681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A0A0"/>
                </a:solidFill>
                <a:latin typeface="Calibri"/>
              </a:rPr>
              <a:t>deployed via SBL — zero liquidation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97480"/>
            <a:ext cx="11457432" cy="32004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724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72"/>
                </a:solidFill>
                <a:latin typeface="Calibri"/>
              </a:rPr>
              <a:t>PROPOSED 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63240"/>
            <a:ext cx="11457432" cy="749808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063240"/>
            <a:ext cx="411480" cy="74980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3227832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002D72"/>
                </a:solidFill>
                <a:latin typeface="Calibri"/>
              </a:rPr>
              <a:t>1</a:t>
            </a:r>
          </a:p>
          <a:p>
            <a:pPr algn="ctr"/>
            <a:endParaRPr sz="1200" b="1" i="0" dirty="0">
              <a:solidFill>
                <a:srgbClr val="002D72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" y="3118104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Investment Policy Statement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42900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Formalizes the agreed-upon asset allocation, risk parameters, and goals.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886200"/>
            <a:ext cx="11457432" cy="749808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3886200"/>
            <a:ext cx="411480" cy="74980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4050791"/>
            <a:ext cx="320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002D72"/>
                </a:solidFill>
                <a:latin typeface="Calibri"/>
              </a:rPr>
              <a:t>2</a:t>
            </a:r>
            <a:endParaRPr sz="1200" b="1" i="0" dirty="0">
              <a:solidFill>
                <a:srgbClr val="002D72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1248" y="3941063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Tax Strategy Session with CPA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425196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0A0A0"/>
                </a:solidFill>
                <a:latin typeface="Calibri"/>
              </a:rPr>
              <a:t>Coordinates the 5-tranche liquidation structure, harvesting plan, and DAF contribution.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709160"/>
            <a:ext cx="11457432" cy="749808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5760" y="4709160"/>
            <a:ext cx="411480" cy="74980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4873752"/>
            <a:ext cx="320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002D72"/>
                </a:solidFill>
                <a:latin typeface="Calibri"/>
              </a:rPr>
              <a:t>3</a:t>
            </a:r>
            <a:endParaRPr sz="1200" b="1" i="0" dirty="0">
              <a:solidFill>
                <a:srgbClr val="002D72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1248" y="4764024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Tranche 1 Liquidation ($4.5M)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507492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Initiates the systematic de-risking process. Trading desk executes with price optimization.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532120"/>
            <a:ext cx="11457432" cy="749808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65760" y="5532120"/>
            <a:ext cx="411480" cy="74980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80" y="5696712"/>
            <a:ext cx="320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002D72"/>
                </a:solidFill>
                <a:latin typeface="Calibri"/>
              </a:rPr>
              <a:t>4</a:t>
            </a:r>
            <a:endParaRPr sz="1200" b="1" i="0" dirty="0">
              <a:solidFill>
                <a:srgbClr val="002D72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41248" y="5586984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SBL Credit Facility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" y="589788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Secures the $5M non-purpose line against the diversified portfolio to seed the foundation.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6419088"/>
            <a:ext cx="114574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A0A0A0"/>
                </a:solidFill>
                <a:latin typeface="Calibri"/>
              </a:rPr>
              <a:t>For illustrative purposes only. All figures are estimates based on modeled assumptions. Past performance does not guarantee future results. </a:t>
            </a:r>
            <a:r>
              <a:rPr lang="en-US" sz="800" b="0" i="0" dirty="0">
                <a:solidFill>
                  <a:srgbClr val="A0A0A0"/>
                </a:solidFill>
                <a:latin typeface="Calibri"/>
              </a:rPr>
              <a:t> </a:t>
            </a:r>
            <a:r>
              <a:rPr sz="800" b="0" i="0" dirty="0">
                <a:solidFill>
                  <a:srgbClr val="A0A0A0"/>
                </a:solidFill>
                <a:latin typeface="Calibri"/>
              </a:rPr>
              <a:t>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2067</Words>
  <Application>Microsoft Macintosh PowerPoint</Application>
  <PresentationFormat>Custom</PresentationFormat>
  <Paragraphs>540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Mario Mercado</cp:lastModifiedBy>
  <cp:revision>9</cp:revision>
  <dcterms:created xsi:type="dcterms:W3CDTF">2013-01-27T09:14:16Z</dcterms:created>
  <dcterms:modified xsi:type="dcterms:W3CDTF">2026-02-19T19:46:32Z</dcterms:modified>
  <cp:category/>
</cp:coreProperties>
</file>