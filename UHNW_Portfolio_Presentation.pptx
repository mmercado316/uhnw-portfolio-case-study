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UHNW PORTFOLIO TRANSITION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A84B"/>
                </a:solidFill>
                <a:latin typeface="Calibri"/>
              </a:rPr>
              <a:t>From Concentrated Risk to Institutional Diversification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8346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84B"/>
                </a:solidFill>
                <a:latin typeface="Calibri"/>
              </a:rPr>
              <a:t>CLIENT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  <a:latin typeface="Calibri"/>
              </a:rPr>
              <a:t>Segment:   Ultra High Net Worth (UHNW)  |  $10M+ Investable Assets</a:t>
            </a:r>
          </a:p>
          <a:p>
            <a:pPr algn="l"/>
            <a:r>
              <a:rPr sz="1300" b="0">
                <a:solidFill>
                  <a:srgbClr val="F2F2F2"/>
                </a:solidFill>
                <a:latin typeface="Calibri"/>
              </a:rPr>
              <a:t>Profile:     Technology Founder  |  $25,000,000 Portfolio  |  90% Concentrated Equity</a:t>
            </a:r>
          </a:p>
          <a:p>
            <a:pPr algn="l"/>
            <a:r>
              <a:rPr sz="1300" b="0">
                <a:solidFill>
                  <a:srgbClr val="F2F2F2"/>
                </a:solidFill>
                <a:latin typeface="Calibri"/>
              </a:rPr>
              <a:t>Objective:  De-risk position, generate income, fund $10M Private Foundation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2560320" cy="89611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8A84B"/>
                </a:solidFill>
                <a:latin typeface="Calibri"/>
              </a:rPr>
              <a:t>$25M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480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A0A0"/>
                </a:solidFill>
                <a:latin typeface="Calibri"/>
              </a:rPr>
              <a:t>Portfolio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4480560"/>
            <a:ext cx="2560320" cy="89611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452628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8A84B"/>
                </a:solidFill>
                <a:latin typeface="Calibri"/>
              </a:rPr>
              <a:t>$18.5M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983480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A0A0"/>
                </a:solidFill>
                <a:latin typeface="Calibri"/>
              </a:rPr>
              <a:t>Unrealized Gains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599" y="4480560"/>
            <a:ext cx="2560320" cy="89611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9" y="452628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8A84B"/>
                </a:solidFill>
                <a:latin typeface="Calibri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39" y="4983480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A0A0"/>
                </a:solidFill>
                <a:latin typeface="Calibri"/>
              </a:rPr>
              <a:t>Tech Concentration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4480560"/>
            <a:ext cx="2560320" cy="89611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19" y="452628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8A84B"/>
                </a:solidFill>
                <a:latin typeface="Calibri"/>
              </a:rPr>
              <a:t>$10M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19" y="4983480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A0A0"/>
                </a:solidFill>
                <a:latin typeface="Calibri"/>
              </a:rPr>
              <a:t>Foundation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080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Case Study  |  February 2026  |  For Illustrative Purposes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What we will cover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1234440"/>
            <a:ext cx="347472" cy="53035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132588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2801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The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52704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Why a 90% concentrated tech position represents a structural risk — not just volatility.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837944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1837944"/>
            <a:ext cx="347472" cy="53035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1929384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18836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Risk by the Numbers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1305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VaR, maximum drawdown, beta, and correlation data quantifying the exposure.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441448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2441448"/>
            <a:ext cx="347472" cy="53035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2532888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24871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The Recommendation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273405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A 7-asset-class institutional model targeting better risk-adjusted returns.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044952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44952"/>
            <a:ext cx="347472" cy="53035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3136392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30906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Asset Allocation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33375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Side-by-side breakdown: current portfolio vs. optimized diversified model.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234440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1234440"/>
            <a:ext cx="347472" cy="53035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7648" y="1325880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12801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Tax Transition Strategy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152704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Managing the $4.625M tax liability through phased liquidation and offset strategies.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1837944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1837944"/>
            <a:ext cx="347472" cy="53035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27648" y="1929384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18836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Securities-Based Lending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21305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Using a credit facility to fund the $10M foundation — without triggering additional gains.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2441448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2441448"/>
            <a:ext cx="347472" cy="53035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27648" y="2532888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24871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Goals-Based Planning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273405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20-year projection across bear, base, and bull scenarios.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3044952"/>
            <a:ext cx="557784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9360" y="3044952"/>
            <a:ext cx="347472" cy="53035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27648" y="3136392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0840" y="30906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Implementation Timeline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33375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18-month phased roadmap with specialist team and key milestones.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Concentrated equity is not a portfolio — it is a bet.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53949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D72"/>
                </a:solidFill>
                <a:latin typeface="Calibri"/>
              </a:rPr>
              <a:t>CURRENT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664208"/>
            <a:ext cx="11457432" cy="1828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73152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1783080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90% Allocated to Tech Equity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2039112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A single sector drives virtually all portfolio outcomes. One regulatory shift, earnings miss, or macro rotation can permanently impair wealth.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51760"/>
            <a:ext cx="73152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651760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$18.5M in Unrealized Gains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907791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The position cannot be unwound without a significant tax event. Inaction is not neutral — it compounds the concentration problem.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520439"/>
            <a:ext cx="73152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20439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45% Maximum Drawdown Exposure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776472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In a 2008- or 2022-style drawdown, the portfolio could lose nearly half its value with no fixed income or alternatives to cushion the decline.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389120"/>
            <a:ext cx="73152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389120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$112,500 Annual Income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645152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A 0.5% dividend yield on a $25M portfolio generates minimal cash flow. Lifestyle and philanthropic goals require a structural income solution.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73152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257800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No Alternative Asset Exposure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513832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Zero allocation to private equity, real estate, or hedge strategies. The client captures none of the illiquidity premium available at this wealth level.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1234440"/>
            <a:ext cx="5760720" cy="507492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1325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84B"/>
                </a:solidFill>
                <a:latin typeface="Calibri"/>
              </a:rPr>
              <a:t>THE COST OF INACTION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783080"/>
            <a:ext cx="5577840" cy="68580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18196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Portfolio Beta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180136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00000"/>
                </a:solidFill>
                <a:latin typeface="Calibri"/>
              </a:rPr>
              <a:t>1.35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21945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vs. 0.88 optimized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2542032"/>
            <a:ext cx="5577840" cy="68580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5786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Correlation to S&amp;P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560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00000"/>
                </a:solidFill>
                <a:latin typeface="Calibri"/>
              </a:rPr>
              <a:t>0.94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295351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Almost no true diversification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3300984"/>
            <a:ext cx="5577840" cy="68580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33375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Value at Risk (95%)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52560" y="33192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00000"/>
                </a:solidFill>
                <a:latin typeface="Calibri"/>
              </a:rPr>
              <a:t>$4.25M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3640" y="3712463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Single-day loss potential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4059935"/>
            <a:ext cx="5577840" cy="68580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4096511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Max Drawdown (est.)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078223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00000"/>
                </a:solidFill>
                <a:latin typeface="Calibri"/>
              </a:rPr>
              <a:t>45%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447141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Historical analog: 2022 tech rout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4818888"/>
            <a:ext cx="5577840" cy="68580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48554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Sharpe Ratio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52560" y="4837175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00000"/>
                </a:solidFill>
                <a:latin typeface="Calibri"/>
              </a:rPr>
              <a:t>0.38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3640" y="523036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Poor risk-adjusted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5577840"/>
            <a:ext cx="5577840" cy="68580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561441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Income Generated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5596127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C00000"/>
                </a:solidFill>
                <a:latin typeface="Calibri"/>
              </a:rPr>
              <a:t>$112K/yr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63640" y="598932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vs. $625K in optimized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 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Quantifying the exposure before recommending a solution.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" y="1234440"/>
            <a:ext cx="1828800" cy="960120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" y="1261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" y="14630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0000"/>
                </a:solidFill>
                <a:latin typeface="Calibri"/>
              </a:rPr>
              <a:t>1.35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" y="19202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Portfolio Beta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" y="2212848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" y="2231136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03C"/>
                </a:solidFill>
                <a:latin typeface="Calibri"/>
              </a:rPr>
              <a:t>↓ 34.8%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756" y="2505456"/>
            <a:ext cx="1828800" cy="960120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9476" y="2532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" y="273405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03C"/>
                </a:solidFill>
                <a:latin typeface="Calibri"/>
              </a:rPr>
              <a:t>0.88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Portfolio Beta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72284" y="1234440"/>
            <a:ext cx="1828800" cy="960120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18004" y="1261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18004" y="14630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0000"/>
                </a:solidFill>
                <a:latin typeface="Calibri"/>
              </a:rPr>
              <a:t>$4.25M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18004" y="19202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Value at Risk (95%)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72284" y="2212848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18004" y="2231136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03C"/>
                </a:solidFill>
                <a:latin typeface="Calibri"/>
              </a:rPr>
              <a:t>↓ 55.9%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72284" y="2505456"/>
            <a:ext cx="1828800" cy="960120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8004" y="2532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18004" y="273405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03C"/>
                </a:solidFill>
                <a:latin typeface="Calibri"/>
              </a:rPr>
              <a:t>$1.88M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18004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Value at Risk (95%)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812" y="1234440"/>
            <a:ext cx="1828800" cy="960120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56532" y="1261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6532" y="14630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0000"/>
                </a:solidFill>
                <a:latin typeface="Calibri"/>
              </a:rPr>
              <a:t>45.0%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6532" y="19202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Max Drawdown (est.)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10812" y="2212848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6532" y="2231136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03C"/>
                </a:solidFill>
                <a:latin typeface="Calibri"/>
              </a:rPr>
              <a:t>↓ 51.1%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0812" y="2505456"/>
            <a:ext cx="1828800" cy="960120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56532" y="2532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6532" y="273405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03C"/>
                </a:solidFill>
                <a:latin typeface="Calibri"/>
              </a:rPr>
              <a:t>22.0%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6532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Max Drawdown (est.)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49340" y="1234440"/>
            <a:ext cx="1828800" cy="960120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5060" y="1261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5060" y="14630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0000"/>
                </a:solidFill>
                <a:latin typeface="Calibri"/>
              </a:rPr>
              <a:t>95/100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5060" y="19202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Concentration Risk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49340" y="2212848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5060" y="2231136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03C"/>
                </a:solidFill>
                <a:latin typeface="Calibri"/>
              </a:rPr>
              <a:t>↓ 84.2%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9340" y="2505456"/>
            <a:ext cx="1828800" cy="960120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5060" y="2532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95060" y="273405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03C"/>
                </a:solidFill>
                <a:latin typeface="Calibri"/>
              </a:rPr>
              <a:t>15/100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5060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Concentration Risk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87868" y="1234440"/>
            <a:ext cx="1828800" cy="960120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33588" y="1261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33588" y="14630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0000"/>
                </a:solidFill>
                <a:latin typeface="Calibri"/>
              </a:rPr>
              <a:t>0.38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3588" y="19202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Sharpe Ratio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7868" y="2212848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3588" y="2231136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03C"/>
                </a:solidFill>
                <a:latin typeface="Calibri"/>
              </a:rPr>
              <a:t>↑ 78.9%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87868" y="2505456"/>
            <a:ext cx="1828800" cy="960120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33588" y="2532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33588" y="273405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03C"/>
                </a:solidFill>
                <a:latin typeface="Calibri"/>
              </a:rPr>
              <a:t>0.68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3588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Sharpe Ratio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26396" y="1234440"/>
            <a:ext cx="1828800" cy="960120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72116" y="1261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72116" y="14630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0000"/>
                </a:solidFill>
                <a:latin typeface="Calibri"/>
              </a:rPr>
              <a:t>$112K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72116" y="19202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Annual Income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6396" y="2212848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072116" y="2231136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703C"/>
                </a:solidFill>
                <a:latin typeface="Calibri"/>
              </a:rPr>
              <a:t>↑ 455%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26396" y="2505456"/>
            <a:ext cx="1828800" cy="960120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072116" y="25328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72116" y="273405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03C"/>
                </a:solidFill>
                <a:latin typeface="Calibri"/>
              </a:rPr>
              <a:t>$625K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72116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Annual Income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3703320"/>
            <a:ext cx="11457432" cy="80467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65760" y="3703320"/>
            <a:ext cx="73152" cy="804672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749039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84B"/>
                </a:solidFill>
                <a:latin typeface="Calibri"/>
              </a:rPr>
              <a:t>KEY INSIGHT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0050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The current portfolio takes on 53% more market risk than the optimized model while generating 82% less annual income. This is not a trade-off — it is an inefficiency. Diversification does not sacrifice return; it improves the quality of each unit of risk taken.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663440"/>
            <a:ext cx="11457432" cy="29260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7200" y="4690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0" y="4690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0" y="4690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OPTIMIZED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01200" y="469087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CHANGE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4983480"/>
            <a:ext cx="1145743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7200" y="50292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Number of Holdings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14800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0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3C"/>
                </a:solidFill>
                <a:latin typeface="Calibri"/>
              </a:rPr>
              <a:t>145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01200" y="50292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+1,713%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5330952"/>
            <a:ext cx="11457432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537667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Asset Classes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0" y="5376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0" y="5376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3C"/>
                </a:solidFill>
                <a:latin typeface="Calibri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53766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+5 classes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5678424"/>
            <a:ext cx="1145743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7200" y="572414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Geographic Exposure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0" y="5724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1 Region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724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3C"/>
                </a:solidFill>
                <a:latin typeface="Calibri"/>
              </a:rPr>
              <a:t>4 Regions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601200" y="57241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+300%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5760" y="6025896"/>
            <a:ext cx="11457432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57200" y="607161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Correlation to S&amp;P 500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4800" y="6071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0.94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58000" y="6071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703C"/>
                </a:solidFill>
                <a:latin typeface="Calibri"/>
              </a:rPr>
              <a:t>0.68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601200" y="60716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↓ 27.7%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An institutional-grade model built for long-term wealth preservation and growth.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3657600" cy="47548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280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DIVERSIFY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709928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1801368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Calibri"/>
              </a:rPr>
              <a:t>Expand from 2 to 7 asset classes across public equity, fixed income, private equity, real estate, and cash.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1234440"/>
            <a:ext cx="3657600" cy="47548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1280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DE-RISK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1709928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1801368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Calibri"/>
              </a:rPr>
              <a:t>Reduce portfolio beta from 1.35 to 0.88. Cut Value at Risk by 55.9%. Target a Sharpe Ratio improvement of 78.9%.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74736" y="1234440"/>
            <a:ext cx="3657600" cy="47548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5" y="1280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GENERATE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74736" y="1709928"/>
            <a:ext cx="36576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1896" y="1801368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Calibri"/>
              </a:rPr>
              <a:t>Grow annual income from $112,500 to $625,000. Use SBL credit facility to fund $10M foundation without triggering additional capital gains.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2532887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D72"/>
                </a:solidFill>
                <a:latin typeface="Calibri"/>
              </a:rPr>
              <a:t>TARGET ALLOCATION  |  OPTIMIZED DIVERSIFIED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743200"/>
            <a:ext cx="11457432" cy="29260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7706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ASSET CLASS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7706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ALLOCATION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27706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81527"/>
            <a:ext cx="1145743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3081527"/>
            <a:ext cx="109728" cy="45720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1729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Public Equity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15467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2D72"/>
                </a:solidFill>
                <a:latin typeface="Calibri"/>
              </a:rPr>
              <a:t>55%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1729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US, International, EM across large, mid, small cap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557015"/>
            <a:ext cx="11457432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3557015"/>
            <a:ext cx="109728" cy="45720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36484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Fixed Income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3630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03C"/>
                </a:solidFill>
                <a:latin typeface="Calibri"/>
              </a:rPr>
              <a:t>23%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364845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Investment grade, high yield, municipal bonds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032504"/>
            <a:ext cx="1145743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4032504"/>
            <a:ext cx="109728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12394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Private Equity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7030A0"/>
                </a:solidFill>
                <a:latin typeface="Calibri"/>
              </a:rPr>
              <a:t>12%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12394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Buyout funds + venture capital — illiquidity premium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507992"/>
            <a:ext cx="11457432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4507992"/>
            <a:ext cx="109728" cy="457200"/>
          </a:xfrm>
          <a:prstGeom prst="rect">
            <a:avLst/>
          </a:prstGeom>
          <a:solidFill>
            <a:srgbClr val="C8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599431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Real Estate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458114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5000"/>
                </a:solidFill>
                <a:latin typeface="Calibri"/>
              </a:rPr>
              <a:t>8%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4599431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Core + opportunistic — inflation hedge, income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983479"/>
            <a:ext cx="1145743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4983479"/>
            <a:ext cx="109728" cy="45720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507491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Cash &amp; Equivalents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505663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A0A0A0"/>
                </a:solidFill>
                <a:latin typeface="Calibri"/>
              </a:rPr>
              <a:t>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074919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Money market — liquidity buffer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ASSET ALLOCATION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Before and after: a side-by-side comparison of the full balance sheet.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5394960" cy="3200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1234440"/>
            <a:ext cx="5760720" cy="3200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127101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CURRENT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9" y="127101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OPTIMIZED DIVERSIFIED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691640"/>
            <a:ext cx="4690872" cy="5943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8072" y="1691640"/>
            <a:ext cx="521208" cy="59436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322576"/>
            <a:ext cx="46360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Calibri"/>
              </a:rPr>
              <a:t>US Large Cap Tech
90%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691640"/>
            <a:ext cx="134874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75220" y="1691640"/>
            <a:ext cx="917143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92363" y="1691640"/>
            <a:ext cx="1240840" cy="59436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33204" y="1691640"/>
            <a:ext cx="647395" cy="5943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280599" y="1691640"/>
            <a:ext cx="431596" cy="594360"/>
          </a:xfrm>
          <a:prstGeom prst="rect">
            <a:avLst/>
          </a:prstGeom>
          <a:solidFill>
            <a:srgbClr val="C8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12196" y="1691640"/>
            <a:ext cx="701344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13540" y="1691640"/>
            <a:ext cx="107899" cy="59436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53912" y="2322576"/>
            <a:ext cx="12938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Calibri"/>
              </a:rPr>
              <a:t>US Large Cap
25%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2652" y="2322576"/>
            <a:ext cx="8622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Calibri"/>
              </a:rPr>
              <a:t>International / EM
17%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9795" y="2322576"/>
            <a:ext cx="1185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Calibri"/>
              </a:rPr>
              <a:t>Fixed Income
23%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60636" y="2322576"/>
            <a:ext cx="5925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Calibri"/>
              </a:rPr>
              <a:t>Private Equity
12%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39628" y="2322576"/>
            <a:ext cx="646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404040"/>
                </a:solidFill>
                <a:latin typeface="Calibri"/>
              </a:rPr>
              <a:t>US Mid &amp; Small Cap
13%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514600"/>
            <a:ext cx="5394960" cy="27432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254203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254203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ALLOC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23360" y="254203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788920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28620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US Large Cap Tech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80" y="286207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90.0%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286207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$22,500,000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191256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32644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Cash &amp; Equivalents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26080" y="32644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10.0%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326440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 $2,500,000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593591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36667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366674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66674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995928"/>
            <a:ext cx="5394960" cy="38404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0690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26080" y="406908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06908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$25,000,000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2514600"/>
            <a:ext cx="5760720" cy="27432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0" y="25420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ASSET CLASS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0" y="25420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ALLOC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49840" y="25420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2788920"/>
            <a:ext cx="576072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26480" y="2843784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Public Equity (Total)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0" y="2843784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55%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2843784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04040"/>
                </a:solidFill>
                <a:latin typeface="Calibri"/>
              </a:rPr>
              <a:t>$13,750,000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35040" y="3140963"/>
            <a:ext cx="57607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26480" y="3195827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  — US Large Cap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61120" y="3195827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25%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3195827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A0A0A0"/>
                </a:solidFill>
                <a:latin typeface="Calibri"/>
              </a:rPr>
              <a:t> $6,250,000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5040" y="3493008"/>
            <a:ext cx="576072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26480" y="3547872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  — Intl / EM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354787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17%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3547872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A0A0A0"/>
                </a:solidFill>
                <a:latin typeface="Calibri"/>
              </a:rPr>
              <a:t> $4,250,000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845052"/>
            <a:ext cx="57607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26480" y="3899915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A0A0"/>
                </a:solidFill>
                <a:latin typeface="Calibri"/>
              </a:rPr>
              <a:t>  — US Mid &amp; Small Cap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61120" y="3899915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13%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58400" y="3899915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A0A0A0"/>
                </a:solidFill>
                <a:latin typeface="Calibri"/>
              </a:rPr>
              <a:t> $3,250,000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35040" y="4197096"/>
            <a:ext cx="576072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0" y="4251959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Fixed Income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61120" y="4251959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23%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400" y="4251959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04040"/>
                </a:solidFill>
                <a:latin typeface="Calibri"/>
              </a:rPr>
              <a:t> $5,750,000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035040" y="4549140"/>
            <a:ext cx="57607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26480" y="4604003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Private Equity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61120" y="4604003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12%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400" y="4604003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04040"/>
                </a:solidFill>
                <a:latin typeface="Calibri"/>
              </a:rPr>
              <a:t> $3,000,000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35040" y="4901183"/>
            <a:ext cx="5760720" cy="338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26480" y="4956047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Real Estate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61120" y="4956047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8%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58400" y="4956047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04040"/>
                </a:solidFill>
                <a:latin typeface="Calibri"/>
              </a:rPr>
              <a:t> $2,000,000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035040" y="5253228"/>
            <a:ext cx="57607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26480" y="5308092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Cash &amp; Equivalents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61120" y="5308092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2%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5308092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404040"/>
                </a:solidFill>
                <a:latin typeface="Calibri"/>
              </a:rPr>
              <a:t>   $500,000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035040" y="5605272"/>
            <a:ext cx="5760720" cy="33832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26480" y="5660136"/>
            <a:ext cx="26517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20" y="5660136"/>
            <a:ext cx="8229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058400" y="5660136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Calibri"/>
              </a:rPr>
              <a:t>$25,000,000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TAX TRANSITION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The $4.625M question — and five ways to reduce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53949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D72"/>
                </a:solidFill>
                <a:latin typeface="Calibri"/>
              </a:rPr>
              <a:t>THE TAX REALITY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627632"/>
            <a:ext cx="11457432" cy="1828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8013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C00000"/>
                </a:solidFill>
                <a:latin typeface="Calibri"/>
              </a:rPr>
              <a:t>$18,500,000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1874519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Unrealized Capital Gains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423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C00000"/>
                </a:solidFill>
                <a:latin typeface="Calibri"/>
              </a:rPr>
              <a:t>37.1%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249631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Blended Effective Rate (Fed + 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449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C00000"/>
                </a:solidFill>
                <a:latin typeface="Calibri"/>
              </a:rPr>
              <a:t>$4,625,000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11810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Estimated Gross Tax Liability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6667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00703C"/>
                </a:solidFill>
                <a:latin typeface="Calibri"/>
              </a:rPr>
              <a:t>($850,000)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373989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Tax-Loss Harvesting Offset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70248"/>
            <a:ext cx="52120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28853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C00000"/>
                </a:solidFill>
                <a:latin typeface="Calibri"/>
              </a:rPr>
              <a:t>$3,775,000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436168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NET Tax Liability After Offset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937759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2D72"/>
                </a:solidFill>
                <a:latin typeface="Calibri"/>
              </a:rPr>
              <a:t>5-TRANCHE LIQUIDATION SCHEDULE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39512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25780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T1
Mo.4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51383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35607" y="5239512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5607" y="525780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T2
Mo.5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35607" y="551383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4015" y="5239512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14015" y="525780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T3
Mo.6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14015" y="551383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92423" y="5239512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92423" y="525780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T4
Mo.7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92423" y="551383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1" y="5239512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1" y="525780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T5
Mo.8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1" y="551383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1234440"/>
            <a:ext cx="5760720" cy="507492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3258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84B"/>
                </a:solidFill>
                <a:latin typeface="Calibri"/>
              </a:rPr>
              <a:t>TAX MITIGATION STRATEGIES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1737360"/>
            <a:ext cx="5577840" cy="80467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6480" y="1737360"/>
            <a:ext cx="54864" cy="804672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63640" y="17830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1.  Tax-Loss Harvesting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203911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$850K offset from identified losses across portfolio positions.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2651760"/>
            <a:ext cx="5577840" cy="80467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0" y="2651760"/>
            <a:ext cx="54864" cy="804672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63640" y="269747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2.  Installment Liquidation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3640" y="295351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Spread recognition across 5 tax years — avoids single-year bracket cliff.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566160"/>
            <a:ext cx="5577840" cy="80467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0" y="3566160"/>
            <a:ext cx="54864" cy="804672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361187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3.  Donor-Advised Fund (DAF)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63640" y="3867911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Donate appreciated shares directly. Avoid gains entirely; receive FMV deduction.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26480" y="4480560"/>
            <a:ext cx="5577840" cy="80467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26480" y="4480560"/>
            <a:ext cx="54864" cy="804672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45262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4.  Qualified Opportunity Zone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63640" y="478231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Invest deferred gains in QOZ fund. Defer recognition; exclude future appreciation.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26480" y="5394960"/>
            <a:ext cx="5577840" cy="80467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480" y="5394960"/>
            <a:ext cx="54864" cy="804672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63640" y="54406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5.  Charitable Remainder Trust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63640" y="5696712"/>
            <a:ext cx="5303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Transfer stock to CRT. Avoid immediate gain; receive income stream and estate benefit.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SECURITIES-BASED LENDING (SBL)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Fund the $10M Private Foundation without selling a single share.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1145743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1234440"/>
            <a:ext cx="73152" cy="65836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26187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84B"/>
                </a:solidFill>
                <a:latin typeface="Calibri"/>
              </a:rPr>
              <a:t>THE CORE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50876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The tax cost of liquidating $5M of tech stock to fund the foundation: $1,669,500. The annual after-tax cost of a $5M SBL credit facility at 6.50%: $204,750. The breakeven point: 3.1 years. After that, SBL outperforms liquidation by $7.1M over 10 years.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029968"/>
            <a:ext cx="5394960" cy="29260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05740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CREDIT FACILITY 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359152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43230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D72"/>
                </a:solidFill>
                <a:latin typeface="Calibri"/>
              </a:rPr>
              <a:t>Loan Amount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243230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00703C"/>
                </a:solidFill>
                <a:latin typeface="Calibri"/>
              </a:rPr>
              <a:t>$5,000,000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43200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8163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Collateral Pledged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28163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$15,000,000  (60% of portfolio)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27248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2004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Loan-to-Value (LTV)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320040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33.3%  —  conservative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511296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58444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Margin Call Trigger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358444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40.0% LTV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895344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9684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Interest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396849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6.50%  (SOFR + 200 bps)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279392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35254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D72"/>
                </a:solidFill>
                <a:latin typeface="Calibri"/>
              </a:rPr>
              <a:t>After-Tax Effective Rate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0" y="435254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00703C"/>
                </a:solidFill>
                <a:latin typeface="Calibri"/>
              </a:rPr>
              <a:t>4.10%  (at 37% bracket)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663440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3659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D72"/>
                </a:solidFill>
                <a:latin typeface="Calibri"/>
              </a:rPr>
              <a:t>Annual Interest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6080" y="47365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00703C"/>
                </a:solidFill>
                <a:latin typeface="Calibri"/>
              </a:rPr>
              <a:t>$325,000 gross  /  $204,750 net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047488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1206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Loan Structure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26080" y="512064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Interest-only  |  Annually renewable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31536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504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Use of Proceeds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26080" y="550468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Private Foundation seed capital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2029968"/>
            <a:ext cx="5760720" cy="29260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26480" y="2057400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SBL vs. LIQUIDATION — 10-YEAR COMPARISON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2359152"/>
            <a:ext cx="5760720" cy="38404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26480" y="24323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Factor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243230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Liquidate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49840" y="243230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Use SBL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2743200"/>
            <a:ext cx="5760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26480" y="28163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Immediate Tax Cost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0" y="281635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$1,669,500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49840" y="281635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$0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3127248"/>
            <a:ext cx="5760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26480" y="320040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Annual Carry Cost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0" y="32004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49840" y="32004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$204,750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35040" y="3511296"/>
            <a:ext cx="5760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26480" y="358444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Capital to Foundation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4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$3,330,500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3584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$5,000,000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5040" y="3895344"/>
            <a:ext cx="5760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26480" y="39684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Portfolio Compounding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12480" y="396849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$20M base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96849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$25M base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4279392"/>
            <a:ext cx="5760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26480" y="435254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Net 10-Yr SBL Advantage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12480" y="43525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43525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$7,124,500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35040" y="4663440"/>
            <a:ext cx="5760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0" y="47365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Breakeven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7365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49840" y="47365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3.1 Years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035040" y="5120640"/>
            <a:ext cx="5760720" cy="25603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26480" y="513892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MARGIN CALL STRESS TEST  (Collateral: $15M  |  Loan: $5M)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40" y="5394960"/>
            <a:ext cx="57607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26480" y="5431536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Base Case  (0% decline)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52560" y="543153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LTV: 33.3%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32720" y="543153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03C"/>
                </a:solidFill>
                <a:latin typeface="Calibri"/>
              </a:rPr>
              <a:t>NO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35040" y="5669280"/>
            <a:ext cx="576072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26480" y="5705856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Moderate   (-10%)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52560" y="570585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LTV: 37.0%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32720" y="570585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03C"/>
                </a:solidFill>
                <a:latin typeface="Calibri"/>
              </a:rPr>
              <a:t>NO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35040" y="5943600"/>
            <a:ext cx="57607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26480" y="5980176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Significant (-20%)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52560" y="598017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00000"/>
                </a:solidFill>
                <a:latin typeface="Calibri"/>
              </a:rPr>
              <a:t>LTV: 41.7%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32720" y="598017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00000"/>
                </a:solidFill>
                <a:latin typeface="Calibri"/>
              </a:rPr>
              <a:t>YES ⚠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35040" y="6217920"/>
            <a:ext cx="576072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26480" y="6254496"/>
            <a:ext cx="2926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  <a:latin typeface="Calibri"/>
              </a:rPr>
              <a:t>Severe     (-30%)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52560" y="62544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00000"/>
                </a:solidFill>
                <a:latin typeface="Calibri"/>
              </a:rPr>
              <a:t>LTV: 47.6%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332720" y="625449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00000"/>
                </a:solidFill>
                <a:latin typeface="Calibri"/>
              </a:rPr>
              <a:t>YES 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GOALS-BASED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Three scenarios. One consistent conclusion: the optimized model funds your goals.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3566160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261872"/>
            <a:ext cx="3383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BEAR CASE  |  5.0% Return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618488"/>
            <a:ext cx="35661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645920"/>
            <a:ext cx="3383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Net 3.0% after 2% withdrawal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82880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Conservative markets, elevated volatility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8" y="1234440"/>
            <a:ext cx="3566160" cy="38404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24528" y="1261872"/>
            <a:ext cx="3383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CASE  |  9.8% Return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3088" y="1618488"/>
            <a:ext cx="35661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24528" y="1645920"/>
            <a:ext cx="3383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D72"/>
                </a:solidFill>
                <a:latin typeface="Calibri"/>
              </a:rPr>
              <a:t>Net 7.8% after 2% withdrawal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4528" y="182880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Institutional long-term capital market assumptions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0416" y="1234440"/>
            <a:ext cx="3566160" cy="38404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1261872"/>
            <a:ext cx="3383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BULL CASE  |  13.5% Return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00416" y="1618488"/>
            <a:ext cx="35661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1856" y="1645920"/>
            <a:ext cx="3383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Net 11.5% after 2% withdrawal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91856" y="182880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04040"/>
                </a:solidFill>
                <a:latin typeface="Calibri"/>
              </a:rPr>
              <a:t>Favorable market environment, alternatives outperform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2212848"/>
            <a:ext cx="11457432" cy="27432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2402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22402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CALENDAR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22402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BEAR (3.0% net)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2402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BASE (7.8% net)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24028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BULL (11.5% net)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505456"/>
            <a:ext cx="114574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25877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Year 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258775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2027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25877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$20,986,250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25877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$21,964,250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25877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$22,718,125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0" y="2587752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30A0"/>
                </a:solidFill>
                <a:latin typeface="Calibri"/>
              </a:rPr>
              <a:t>SBL Facility Established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2889504"/>
            <a:ext cx="11457432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297180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Year 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297180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2029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2971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$22,264,313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297180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$25,524,303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29718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$28,243,741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3273552"/>
            <a:ext cx="114574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335584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Year 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33558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2031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33558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$23,620,209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33558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$29,661,385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33558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$35,113,325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3355848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30A0"/>
                </a:solidFill>
                <a:latin typeface="Calibri"/>
              </a:rPr>
              <a:t>5-Year Review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3657600"/>
            <a:ext cx="11457432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3739896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Year  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373989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2033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37398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$25,058,680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373989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$34,469,021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0" y="37398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$43,653,763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47120" y="3739896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30A0"/>
                </a:solidFill>
                <a:latin typeface="Calibri"/>
              </a:rPr>
              <a:t>Foundation Review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041648"/>
            <a:ext cx="114574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412394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Year 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8800" y="41239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4040"/>
                </a:solidFill>
                <a:latin typeface="Calibri"/>
              </a:rPr>
              <a:t>2036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0" y="41239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$27,382,296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41239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D72"/>
                </a:solidFill>
                <a:latin typeface="Calibri"/>
              </a:rPr>
              <a:t>$43,180,257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1239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$60,512,667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247120" y="4123944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30A0"/>
                </a:solidFill>
                <a:latin typeface="Calibri"/>
              </a:rPr>
              <a:t>Loan Fully Repaid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425696"/>
            <a:ext cx="11457432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450799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Year 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28800" y="4507992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2041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0" y="45079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$31,743,586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5079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$62,860,674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45079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$104,284,708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4809744"/>
            <a:ext cx="114574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489204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  <a:latin typeface="Calibri"/>
              </a:rPr>
              <a:t>Year 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28800" y="489204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4040"/>
                </a:solidFill>
                <a:latin typeface="Calibri"/>
              </a:rPr>
              <a:t>2046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0" y="4892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$36,799,516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0" y="4892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D72"/>
                </a:solidFill>
                <a:latin typeface="Calibri"/>
              </a:rPr>
              <a:t>$91,510,902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0" y="48920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$179,719,402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47120" y="4892040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30A0"/>
                </a:solidFill>
                <a:latin typeface="Calibri"/>
              </a:rPr>
              <a:t>Planning Horizon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65760" y="5230368"/>
            <a:ext cx="11457432" cy="73152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65760" y="5230368"/>
            <a:ext cx="73152" cy="73152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48640" y="5266944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A84B"/>
                </a:solidFill>
                <a:latin typeface="Calibri"/>
              </a:rPr>
              <a:t>PRIVATE FOUNDATION MILESTONE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5513832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$5M deployed via SBL in Year 1 (no liquidation). Foundation grows at 7.5% net of 5% annual grantmaking. Foundation reaches $10M target by Year 10. Loan repaid from portfolio income — no asset sales required. Cumulative grants disbursed: $3.5M+ over the decade.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8A84B"/>
                </a:solidFill>
                <a:latin typeface="Calibri"/>
              </a:rPr>
              <a:t>An 18-month phased roadmap with a specialist team at every stage.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8A84B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0528"/>
            <a:ext cx="101664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3657600" cy="56692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12527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DISCOVERY
Months 1-3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801368"/>
            <a:ext cx="3657600" cy="4434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874519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94767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Complete Risk Tolerance Questionnaire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22199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Private Banker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79191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7523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Review Holdings &amp; Cost Basis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26663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Investment Analyst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83863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55701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Tax Consultation with CPA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31335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Wealth Planning Specialist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288536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3616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Develop Investment Policy Statement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36007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Private Banker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93208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16636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Model Transition Scenarios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440680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Investment Analyst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1234440"/>
            <a:ext cx="3657600" cy="56692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1688" y="12527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EXECUTION
Months 4-11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0248" y="1801368"/>
            <a:ext cx="3657600" cy="4434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61688" y="1874519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71416" y="194767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5-Tranche Systematic Liquidation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1416" y="222199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Trading Desk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61688" y="2679191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71416" y="27523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Deploy to Fixed Income ($5.75M)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1416" y="3026663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Fixed Income Specialist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1688" y="3483863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71416" y="355701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Public Equity Diversification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1416" y="3831335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Equity Specialist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61688" y="4288536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71416" y="43616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Private Equity Capital Calls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71416" y="4636007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Alternatives Specialist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1688" y="5093208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71416" y="516636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Real Estate Investment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440680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Real Estate Specialist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1234440"/>
            <a:ext cx="3657600" cy="56692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66175" y="12527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MONITORING
Months 12-18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4736" y="1801368"/>
            <a:ext cx="3657600" cy="4434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66175" y="1874519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75904" y="194767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Portfolio Rebalancing Review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75904" y="2221991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Private Banker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66175" y="2679191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75904" y="27523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Tax-Loss Harvesting ($850K target)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75904" y="3026663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Wealth Planning Specialist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66175" y="3483863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75904" y="355701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SBL Facility Establishment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75904" y="3831335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Credit / Banking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66175" y="4288536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75904" y="43616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Quarterly Performance Reviews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75904" y="4636007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Private Banker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66175" y="5093208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75904" y="516636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Semi-Annual Risk Assessment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75904" y="5440680"/>
            <a:ext cx="3291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0A0A0"/>
                </a:solidFill>
                <a:latin typeface="Calibri"/>
              </a:rPr>
              <a:t>Investment Analyst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6080760"/>
            <a:ext cx="11457432" cy="25603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1480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Month 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37360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Month 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63239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Month 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94959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Month 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Month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29800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8A84B"/>
                </a:solidFill>
                <a:latin typeface="Calibri"/>
              </a:rPr>
              <a:t>Month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SUMMARY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1615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0A0A0"/>
                </a:solidFill>
                <a:latin typeface="Calibri"/>
              </a:rPr>
              <a:t>Risk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46304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00000"/>
                </a:solidFill>
                <a:latin typeface="Calibri"/>
              </a:rPr>
              <a:t>55.9%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385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decrease in Value at 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79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21615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0A0A0"/>
                </a:solidFill>
                <a:latin typeface="Calibri"/>
              </a:rPr>
              <a:t>Return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199" y="146304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03C"/>
                </a:solidFill>
                <a:latin typeface="Calibri"/>
              </a:rPr>
              <a:t>+78.9%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199" y="19385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improvement in risk-adjusted return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121615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0A0A0"/>
                </a:solidFill>
                <a:latin typeface="Calibri"/>
              </a:rPr>
              <a:t>Income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46304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03C"/>
                </a:solidFill>
                <a:latin typeface="Calibri"/>
              </a:rPr>
              <a:t>+455%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9385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annual portfolio income increase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19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59" y="121615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0A0A0"/>
                </a:solidFill>
                <a:latin typeface="Calibri"/>
              </a:rPr>
              <a:t>Tax Efficiency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46304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84B"/>
                </a:solidFill>
                <a:latin typeface="Calibri"/>
              </a:rPr>
              <a:t>$850K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9385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tax-loss harvesting offset identified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216152"/>
            <a:ext cx="2011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0A0A0"/>
                </a:solidFill>
                <a:latin typeface="Calibri"/>
              </a:rPr>
              <a:t>Foundation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146304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03C"/>
                </a:solidFill>
                <a:latin typeface="Calibri"/>
              </a:rPr>
              <a:t>$5M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385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deployed via SBL — zero liquidation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97480"/>
            <a:ext cx="11457432" cy="3200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724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D72"/>
                </a:solidFill>
                <a:latin typeface="Calibri"/>
              </a:rPr>
              <a:t>PROPOSED NEXT STEPS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63240"/>
            <a:ext cx="11457432" cy="749808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063240"/>
            <a:ext cx="411480" cy="74980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322783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D72"/>
                </a:solidFill>
                <a:latin typeface="Calibri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311810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Sign Investment Policy Statement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41071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Formalizes the agreed-upon asset allocation, risk parameters, and goals.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886200"/>
            <a:ext cx="11457432" cy="749808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886200"/>
            <a:ext cx="411480" cy="74980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050791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D72"/>
                </a:solidFill>
                <a:latin typeface="Calibr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3941063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Schedule Tax Strategy Session with CPA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423367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Coordinates the 5-tranche liquidation structure, harvesting plan, and DAF contribution.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09160"/>
            <a:ext cx="11457432" cy="749808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709160"/>
            <a:ext cx="411480" cy="74980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87375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D72"/>
                </a:solidFill>
                <a:latin typeface="Calibri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476402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Authorize Tranche 1 Liquidation ($4.5M)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50566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Initiates the systematic de-risking process. Trading desk executes with price optimization.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532120"/>
            <a:ext cx="11457432" cy="749808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532120"/>
            <a:ext cx="411480" cy="74980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56967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D72"/>
                </a:solidFill>
                <a:latin typeface="Calibr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" y="55869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Establish SBL Credit Facility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" y="587959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Secures the $5M non-purpose line against the diversified portfolio to seed the foundation.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382512"/>
            <a:ext cx="12188952" cy="475488"/>
          </a:xfrm>
          <a:prstGeom prst="rect">
            <a:avLst/>
          </a:prstGeom>
          <a:solidFill>
            <a:srgbClr val="001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419088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A0A0A0"/>
                </a:solidFill>
                <a:latin typeface="Calibri"/>
              </a:rPr>
              <a:t>For illustrative purposes only. All figures are estimates based on modeled assumptions. Past performance does not guarantee future results. Consult a licensed financial advisor before making investment decisions.  |  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